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4" r:id="rId4"/>
    <p:sldId id="268" r:id="rId5"/>
    <p:sldId id="267" r:id="rId6"/>
    <p:sldId id="262" r:id="rId7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9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DA7F1-211E-4AA8-928D-2BF4A8C8B2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25C8B-B9AD-4306-95E9-EE546155D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4CC0709-F49E-47AC-B554-398B01FF179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1F23C4D-032B-4858-BD84-1BB78D759F6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2DE015A-E3D6-4970-8A4F-FFFB50929F6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mile22/draft-stephan-green-use-cases/pull/14" TargetMode="External"/><Relationship Id="rId2" Type="http://schemas.openxmlformats.org/officeDocument/2006/relationships/hyperlink" Target="https://github.com/emile22/draft-stephan-green-use-cases/pull/14/commits/77f673925afd83bf4d2a54bd30ab4fb5bbe073d7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mile22/draft-stephan-green-use-cases/pull/1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belmq-green-framework-06#section-5" TargetMode="External"/><Relationship Id="rId2" Type="http://schemas.openxmlformats.org/officeDocument/2006/relationships/hyperlink" Target="https://github.com/marisolpalmero/draft-belm-green-framework/pull/35/commits/22d94c9d601252eec22a4422651c9dea8560c745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145302"/>
            <a:ext cx="9071640" cy="11079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Usecases for Energy Efficiency Management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936142"/>
            <a:ext cx="9071640" cy="206915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draft-stephan-green-usecases-03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1870" b="0" u="none" strike="noStrike">
                <a:solidFill>
                  <a:srgbClr val="ED7D31"/>
                </a:solidFill>
                <a:effectLst/>
                <a:uFillTx/>
                <a:latin typeface="Noto Sans"/>
                <a:ea typeface="Noto Sans"/>
              </a:rPr>
              <a:t>GREEN WG Meeting – Nov 3</a:t>
            </a:r>
            <a:r>
              <a:rPr lang="en-US" sz="1868" b="0" u="none" strike="noStrike" baseline="33000">
                <a:solidFill>
                  <a:srgbClr val="ED7D31"/>
                </a:solidFill>
                <a:effectLst/>
                <a:uFillTx/>
                <a:latin typeface="Noto Sans"/>
                <a:ea typeface="Noto Sans"/>
              </a:rPr>
              <a:t>rd</a:t>
            </a:r>
            <a:r>
              <a:rPr lang="en-US" sz="1870" b="0" u="none" strike="noStrike">
                <a:solidFill>
                  <a:srgbClr val="ED7D31"/>
                </a:solidFill>
                <a:effectLst/>
                <a:uFillTx/>
                <a:latin typeface="Noto Sans"/>
                <a:ea typeface="Noto Sans"/>
              </a:rPr>
              <a:t> 2025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>
                <a:solidFill>
                  <a:srgbClr val="0000FF"/>
                </a:solidFill>
                <a:latin typeface="Noto Sans"/>
                <a:ea typeface="Noto Sans"/>
              </a:rPr>
              <a:t>Emile Stephan (Orange)</a:t>
            </a:r>
            <a:r>
              <a:rPr lang="en-US" sz="1600">
                <a:solidFill>
                  <a:srgbClr val="000000"/>
                </a:solidFill>
                <a:latin typeface="Noto Sans"/>
                <a:ea typeface="Noto Sans"/>
              </a:rPr>
              <a:t>, Marisol Palmero (Independent), Benoit Claise (Huawei), Qin Wu (Huawei), Luis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Contreras (Telefonica), Carlos J. Bernardos (University Carlos III of Madrid)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1EA5E-97B0-22DA-6168-3D09FCF66F4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1F23C4D-032B-4858-BD84-1BB78D759F63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B857B-0532-5F25-85B2-CED92EB8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ECB0B954-1EA7-870D-46A0-117A08AC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draft status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656CA38F-2348-8E65-6041-725D24D1F5E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27800" y="3014133"/>
            <a:ext cx="9071640" cy="24323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Initial framework drawing drafted in Aug 2014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Move to uc only draft since in WG scope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Now WG candidate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7A739-356C-01DF-955A-C411F12DB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57" y="1068770"/>
            <a:ext cx="9432925" cy="996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5C86F7-5A85-7971-24F5-EECE7C47F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57" y="2064947"/>
            <a:ext cx="9432925" cy="70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3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0224-F55F-6B7C-09EB-7BDDB1C6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5E2929BD-9CBE-38B5-7156-2DC55F56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"/>
                <a:ea typeface="Noto Sans"/>
              </a:rPr>
              <a:t>02 03 </a:t>
            </a: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diff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169D4833-1136-3452-057D-93C0F0A3A92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New </a:t>
            </a:r>
            <a:r>
              <a:rPr lang="en-US" sz="2000" dirty="0">
                <a:solidFill>
                  <a:srgbClr val="000000"/>
                </a:solidFill>
              </a:rPr>
              <a:t>UC16 </a:t>
            </a:r>
            <a:r>
              <a:rPr lang="en-US" sz="2000" dirty="0">
                <a:solidFill>
                  <a:srgbClr val="000000"/>
                </a:solidFill>
                <a:hlinkClick r:id="rId2"/>
              </a:rPr>
              <a:t>Network Level Cross Layer Energy Saving</a:t>
            </a:r>
            <a:r>
              <a:rPr lang="en-US" sz="2000" dirty="0">
                <a:solidFill>
                  <a:srgbClr val="000000"/>
                </a:solidFill>
              </a:rPr>
              <a:t> added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by </a:t>
            </a:r>
            <a:r>
              <a:rPr lang="en-US" sz="2000" dirty="0">
                <a:solidFill>
                  <a:srgbClr val="000000"/>
                </a:solidFill>
              </a:rPr>
              <a:t>Xinyu (</a:t>
            </a:r>
            <a:r>
              <a:rPr lang="en-US" sz="2000" dirty="0" err="1">
                <a:solidFill>
                  <a:srgbClr val="000000"/>
                </a:solidFill>
              </a:rPr>
              <a:t>Chinamobil</a:t>
            </a:r>
            <a:r>
              <a:rPr lang="en-US" sz="2000" dirty="0">
                <a:solidFill>
                  <a:srgbClr val="000000"/>
                </a:solidFill>
              </a:rPr>
              <a:t>) in </a:t>
            </a:r>
            <a:r>
              <a:rPr lang="en-US" sz="2000" dirty="0">
                <a:solidFill>
                  <a:srgbClr val="000000"/>
                </a:solidFill>
                <a:hlinkClick r:id="rId3"/>
              </a:rPr>
              <a:t>PR#14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Overlapping amongst UC10 and UC16 addressed in </a:t>
            </a:r>
            <a:r>
              <a:rPr lang="en-US" sz="2000" dirty="0">
                <a:solidFill>
                  <a:srgbClr val="000000"/>
                </a:solidFill>
                <a:hlinkClick r:id="rId4"/>
              </a:rPr>
              <a:t>PR#16</a:t>
            </a:r>
            <a:r>
              <a:rPr lang="en-US" sz="2000" dirty="0">
                <a:solidFill>
                  <a:srgbClr val="000000"/>
                </a:solidFill>
              </a:rPr>
              <a:t>: title and </a:t>
            </a:r>
            <a:r>
              <a:rPr lang="en-US" sz="2000" dirty="0" err="1">
                <a:solidFill>
                  <a:srgbClr val="000000"/>
                </a:solidFill>
              </a:rPr>
              <a:t>reqs</a:t>
            </a:r>
            <a:r>
              <a:rPr lang="en-US" sz="2000" dirty="0">
                <a:solidFill>
                  <a:srgbClr val="000000"/>
                </a:solidFill>
              </a:rPr>
              <a:t> scope adjusted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UC16 : Network Level Cross Layer Energy Saving 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dirty="0">
                <a:solidFill>
                  <a:srgbClr val="000000"/>
                </a:solidFill>
              </a:rPr>
              <a:t>The use case focuses on Multi-layer coordination of energy-saving actions across layers below IP to maintain service continuity. 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45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15C6-C01A-23BF-3158-1FC2E8723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CCF84A1D-EE5B-35CB-D4BC-6E7BD87CF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Relation btw UCs and Framework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F06A496C-FE76-DD9D-54A4-F19B61E4380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34471" y="976299"/>
            <a:ext cx="9441169" cy="409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800" dirty="0">
              <a:solidFill>
                <a:srgbClr val="000000"/>
              </a:solidFill>
            </a:endParaRP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We pushed a table of UCs usage of framework interfaces to the framework draft in </a:t>
            </a:r>
            <a:r>
              <a:rPr lang="en-US" sz="1800" dirty="0">
                <a:solidFill>
                  <a:srgbClr val="000000"/>
                </a:solidFill>
                <a:hlinkClick r:id="rId2"/>
              </a:rPr>
              <a:t>#PR35</a:t>
            </a:r>
            <a:endParaRPr lang="en-US" sz="1800" dirty="0">
              <a:solidFill>
                <a:srgbClr val="000000"/>
              </a:solidFill>
            </a:endParaRP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It’s in section 5.1 </a:t>
            </a:r>
            <a:r>
              <a:rPr lang="en-US" sz="1800" dirty="0">
                <a:solidFill>
                  <a:srgbClr val="000000"/>
                </a:solidFill>
                <a:hlinkClick r:id="rId3"/>
              </a:rPr>
              <a:t>Mapping of Use Cases to Framework Interfaces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The section provides an overview of how the use cases may interact with the framework.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Each use case is characterized by the sequence of framework interfaces it invokes to achieve energy-efficiency objectives.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The notation a-&gt;b-&gt;c represents the flow between framework components  (a) Discover,  (b) Monitoring, (c) Metrics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(don’t left next slide presents the table)</a:t>
            </a:r>
          </a:p>
        </p:txBody>
      </p:sp>
    </p:spTree>
    <p:extLst>
      <p:ext uri="{BB962C8B-B14F-4D97-AF65-F5344CB8AC3E}">
        <p14:creationId xmlns:p14="http://schemas.microsoft.com/office/powerpoint/2010/main" val="389260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0517C-70CA-F8B9-3B37-21A3AE5DB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85AA8A4D-61D2-82DE-7DED-474126B2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Section 5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BCCF78-E097-D797-86F1-A59124DEF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34788"/>
              </p:ext>
            </p:extLst>
          </p:nvPr>
        </p:nvGraphicFramePr>
        <p:xfrm>
          <a:off x="923364" y="-37771"/>
          <a:ext cx="8471648" cy="5732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8008">
                  <a:extLst>
                    <a:ext uri="{9D8B030D-6E8A-4147-A177-3AD203B41FA5}">
                      <a16:colId xmlns:a16="http://schemas.microsoft.com/office/drawing/2014/main" val="4076305861"/>
                    </a:ext>
                  </a:extLst>
                </a:gridCol>
                <a:gridCol w="3870605">
                  <a:extLst>
                    <a:ext uri="{9D8B030D-6E8A-4147-A177-3AD203B41FA5}">
                      <a16:colId xmlns:a16="http://schemas.microsoft.com/office/drawing/2014/main" val="2960932560"/>
                    </a:ext>
                  </a:extLst>
                </a:gridCol>
                <a:gridCol w="4123035">
                  <a:extLst>
                    <a:ext uri="{9D8B030D-6E8A-4147-A177-3AD203B41FA5}">
                      <a16:colId xmlns:a16="http://schemas.microsoft.com/office/drawing/2014/main" val="672894411"/>
                    </a:ext>
                  </a:extLst>
                </a:gridCol>
              </a:tblGrid>
              <a:tr h="1950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UC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Use Case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Interfaces Usages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71507033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Incremental deployment of the GREEN Framework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c; c→b; a→d→b→e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1,2: legacy; 3: GREEN WG support (i)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2253058418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Selective Reduction of Energy Consumption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e→b→c→f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monitor→metrics→control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462196286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Reporting on Lifecycle Management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c→g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metrics / metadata→API or report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294247577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Real-time Energy Metering of Virtualised NFs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b→c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monitor→metrics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840032847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Indirect Energy Monitoring &amp; 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b→f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monitor </a:t>
                      </a:r>
                      <a:r>
                        <a:rPr lang="en-US" sz="1100" dirty="0" err="1">
                          <a:effectLst/>
                        </a:rPr>
                        <a:t>aggregate→control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023559749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Consideration of Other Domains for End-to-End Metrics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c→g→b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metrics→cross-domain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API→monitoring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919093859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Dynamic Adjustment via Traffic Levels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b→f→c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observe→control→update→metrics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868907383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Video Streaming Use Case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b→c→f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monitor→metrics→control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608603073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WLAN Network Energy Saving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3856045654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Fixed Network Energy Saving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3344960541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Energy Efficiency Network Management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a→b→c→f→g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discover→monitor→metrics→control→API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134405737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ISAC-enabled Energy-Aware Smart City Traffic Mgmt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---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not clearly specified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2532774705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Double Accounting Open Issue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c→g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metrics / metadata→API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3030572795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Energy Efficiency Under Power Shortage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961997846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Energy-Efficient Mgmt of AI Training Workloads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b→c→f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monitor→metrics→control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784088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20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72A5-D653-5944-5F23-08BFD777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15BEC28C-888A-B22D-00B7-22F4DA17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 err="1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todo</a:t>
            </a: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 list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4DCE89DC-1CB2-F290-311E-C1A69B204B6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34471" y="976299"/>
            <a:ext cx="9441169" cy="409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20000"/>
          </a:bodyPr>
          <a:lstStyle/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900" dirty="0" err="1">
                <a:solidFill>
                  <a:srgbClr val="000000"/>
                </a:solidFill>
              </a:rPr>
              <a:t>Xvalidation</a:t>
            </a:r>
            <a:r>
              <a:rPr lang="en-US" sz="1900" dirty="0">
                <a:solidFill>
                  <a:srgbClr val="000000"/>
                </a:solidFill>
              </a:rPr>
              <a:t>: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</a:rPr>
              <a:t>Continue </a:t>
            </a: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to reduce the overlapping amongst use cases, use Qin PR#16</a:t>
            </a:r>
            <a:r>
              <a:rPr lang="en-US" sz="1900" dirty="0">
                <a:solidFill>
                  <a:srgbClr val="000000"/>
                </a:solidFill>
                <a:latin typeface="Arial"/>
              </a:rPr>
              <a:t> as a template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</a:rPr>
              <a:t>Continue to document section 5.1 of the framework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</a:rPr>
              <a:t>Start checking </a:t>
            </a:r>
            <a:r>
              <a:rPr lang="en-US" sz="1900" dirty="0" err="1">
                <a:solidFill>
                  <a:srgbClr val="000000"/>
                </a:solidFill>
              </a:rPr>
              <a:t>datamodel</a:t>
            </a:r>
            <a:r>
              <a:rPr lang="en-US" sz="1900" dirty="0">
                <a:solidFill>
                  <a:srgbClr val="000000"/>
                </a:solidFill>
              </a:rPr>
              <a:t> applicability to UCs, or per UC </a:t>
            </a:r>
            <a:r>
              <a:rPr lang="en-US" sz="1900" b="1" dirty="0">
                <a:solidFill>
                  <a:srgbClr val="000000"/>
                </a:solidFill>
              </a:rPr>
              <a:t>… 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900" b="1" dirty="0">
                <a:solidFill>
                  <a:srgbClr val="000000"/>
                </a:solidFill>
              </a:rPr>
              <a:t>           to be discuss in session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Others: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Address recent directions </a:t>
            </a:r>
            <a:r>
              <a:rPr lang="en-US" sz="1900" dirty="0">
                <a:solidFill>
                  <a:srgbClr val="000000"/>
                </a:solidFill>
                <a:latin typeface="Arial"/>
              </a:rPr>
              <a:t>given by </a:t>
            </a: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Med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Finalize ISAC UC.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  <a:latin typeface="Arial"/>
              </a:rPr>
              <a:t>Add Xinyu to the authors list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6392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</TotalTime>
  <Words>565</Words>
  <Application>Microsoft Office PowerPoint</Application>
  <PresentationFormat>Custom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Cambria</vt:lpstr>
      <vt:lpstr>Noto Sans</vt:lpstr>
      <vt:lpstr>Symbol</vt:lpstr>
      <vt:lpstr>Times New Roman</vt:lpstr>
      <vt:lpstr>Wingdings</vt:lpstr>
      <vt:lpstr>Office</vt:lpstr>
      <vt:lpstr>Usecases for Energy Efficiency Management</vt:lpstr>
      <vt:lpstr>draft status</vt:lpstr>
      <vt:lpstr>02 03 diff</vt:lpstr>
      <vt:lpstr>Relation btw UCs and Framework</vt:lpstr>
      <vt:lpstr>Section 5</vt:lpstr>
      <vt:lpstr>todo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STEPHAN Emile INNOV/NET</cp:lastModifiedBy>
  <cp:revision>15</cp:revision>
  <dcterms:created xsi:type="dcterms:W3CDTF">2025-10-29T11:27:16Z</dcterms:created>
  <dcterms:modified xsi:type="dcterms:W3CDTF">2025-11-03T17:03:07Z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Orange Restricted</vt:lpwstr>
  </property>
</Properties>
</file>